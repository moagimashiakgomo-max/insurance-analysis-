
<file path=[Content_Types].xml><?xml version="1.0" encoding="utf-8"?>
<Types xmlns="http://schemas.openxmlformats.org/package/2006/content-types">
  <Default Extension="png" ContentType="image/png"/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732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0770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631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142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781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03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8092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459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319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068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3028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3231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2836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9789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5134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974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189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1D7C0D8-F688-440D-94EE-D83C28E63DD7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D6C011-3999-49D0-BF75-15A15EFD54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2700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mp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5326"/>
            <a:ext cx="9144000" cy="3004637"/>
          </a:xfrm>
        </p:spPr>
        <p:txBody>
          <a:bodyPr>
            <a:normAutofit/>
          </a:bodyPr>
          <a:lstStyle/>
          <a:p>
            <a:r>
              <a:rPr lang="en-GB" dirty="0" smtClean="0"/>
              <a:t>Insurance Premium Risk &amp; Loss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 smtClean="0"/>
              <a:t>Analysis Tools Used: SQL | Excel Dashboard</a:t>
            </a:r>
          </a:p>
          <a:p>
            <a:r>
              <a:rPr lang="en-GB" dirty="0" smtClean="0"/>
              <a:t>Dataset Size: 500 Motor Insurance Customers</a:t>
            </a:r>
          </a:p>
          <a:p>
            <a:r>
              <a:rPr lang="en-GB" dirty="0" smtClean="0"/>
              <a:t>Created By: </a:t>
            </a:r>
            <a:r>
              <a:rPr lang="en-GB" dirty="0" err="1" smtClean="0"/>
              <a:t>Moagi</a:t>
            </a:r>
            <a:r>
              <a:rPr lang="en-GB" dirty="0" smtClean="0"/>
              <a:t> </a:t>
            </a:r>
            <a:r>
              <a:rPr lang="en-GB" dirty="0" err="1" smtClean="0"/>
              <a:t>Mashiakgomo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84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Business Problem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smtClean="0"/>
              <a:t>Insurance companies must ensure that premiums collected adequately compensate for claims risk exposure. Mispricing high-risk segments can result in deteriorating loss ratios and long-term profitability issues.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This project evaluates:</a:t>
            </a:r>
          </a:p>
          <a:p>
            <a:r>
              <a:rPr lang="en-US" dirty="0" smtClean="0"/>
              <a:t>Premium distribution across risk tiers</a:t>
            </a:r>
          </a:p>
          <a:p>
            <a:r>
              <a:rPr lang="en-US" dirty="0" smtClean="0"/>
              <a:t>Claims exposure by risk level</a:t>
            </a:r>
          </a:p>
          <a:p>
            <a:r>
              <a:rPr lang="en-US" dirty="0" smtClean="0"/>
              <a:t>Overall portfolio loss ratio</a:t>
            </a:r>
          </a:p>
          <a:p>
            <a:r>
              <a:rPr lang="en-US" dirty="0" smtClean="0"/>
              <a:t>Revenue concentration risk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657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/>
          <p:cNvSpPr>
            <a:spLocks noGrp="1"/>
          </p:cNvSpPr>
          <p:nvPr>
            <p:ph type="title"/>
          </p:nvPr>
        </p:nvSpPr>
        <p:spPr>
          <a:xfrm>
            <a:off x="839788" y="0"/>
            <a:ext cx="3932237" cy="1600200"/>
          </a:xfrm>
        </p:spPr>
        <p:txBody>
          <a:bodyPr/>
          <a:lstStyle/>
          <a:p>
            <a:r>
              <a:rPr lang="en-GB" b="1" u="sng" dirty="0" smtClean="0"/>
              <a:t>Portfolio Overview</a:t>
            </a:r>
            <a:endParaRPr lang="en-US" b="1" u="sng" dirty="0"/>
          </a:p>
        </p:txBody>
      </p:sp>
      <p:graphicFrame>
        <p:nvGraphicFramePr>
          <p:cNvPr id="16" name="Content Placeholder 1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2129293"/>
              </p:ext>
            </p:extLst>
          </p:nvPr>
        </p:nvGraphicFramePr>
        <p:xfrm>
          <a:off x="4772027" y="1600199"/>
          <a:ext cx="7199397" cy="2671011"/>
        </p:xfrm>
        <a:graphic>
          <a:graphicData uri="http://schemas.openxmlformats.org/drawingml/2006/table">
            <a:tbl>
              <a:tblPr>
                <a:tableStyleId>{74C1A8A3-306A-4EB7-A6B1-4F7E0EB9C5D6}</a:tableStyleId>
              </a:tblPr>
              <a:tblGrid>
                <a:gridCol w="1364849"/>
                <a:gridCol w="1364849"/>
                <a:gridCol w="1364849"/>
                <a:gridCol w="1364849"/>
                <a:gridCol w="1740001"/>
              </a:tblGrid>
              <a:tr h="984057">
                <a:tc>
                  <a:txBody>
                    <a:bodyPr/>
                    <a:lstStyle/>
                    <a:p>
                      <a:r>
                        <a:rPr lang="en-US" dirty="0"/>
                        <a:t>Risk Level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Premium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Total Claims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Loss Ratio</a:t>
                      </a:r>
                    </a:p>
                  </a:txBody>
                  <a:tcPr marL="53671" marR="53671" anchor="ctr"/>
                </a:tc>
              </a:tr>
              <a:tr h="562318">
                <a:tc>
                  <a:txBody>
                    <a:bodyPr/>
                    <a:lstStyle/>
                    <a:p>
                      <a:r>
                        <a:rPr lang="en-US" dirty="0"/>
                        <a:t>High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90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P1,871,193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96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0.000051</a:t>
                      </a:r>
                    </a:p>
                  </a:txBody>
                  <a:tcPr marL="53671" marR="53671" anchor="ctr"/>
                </a:tc>
              </a:tr>
              <a:tr h="562318">
                <a:tc>
                  <a:txBody>
                    <a:bodyPr/>
                    <a:lstStyle/>
                    <a:p>
                      <a:r>
                        <a:rPr lang="en-US" dirty="0"/>
                        <a:t>Medium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217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P4,565,455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209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0.000046</a:t>
                      </a:r>
                    </a:p>
                  </a:txBody>
                  <a:tcPr marL="53671" marR="53671" anchor="ctr"/>
                </a:tc>
              </a:tr>
              <a:tr h="562318">
                <a:tc>
                  <a:txBody>
                    <a:bodyPr/>
                    <a:lstStyle/>
                    <a:p>
                      <a:r>
                        <a:rPr lang="en-US"/>
                        <a:t>Low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193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P4,029,363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183</a:t>
                      </a:r>
                    </a:p>
                  </a:txBody>
                  <a:tcPr marL="53671" marR="53671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0.000045</a:t>
                      </a:r>
                    </a:p>
                  </a:txBody>
                  <a:tcPr marL="53671" marR="53671" anchor="ctr"/>
                </a:tc>
              </a:tr>
            </a:tbl>
          </a:graphicData>
        </a:graphic>
      </p:graphicFrame>
      <p:sp>
        <p:nvSpPr>
          <p:cNvPr id="18" name="Text Placeholder 17"/>
          <p:cNvSpPr>
            <a:spLocks noGrp="1"/>
          </p:cNvSpPr>
          <p:nvPr>
            <p:ph type="body" sz="half" idx="2"/>
          </p:nvPr>
        </p:nvSpPr>
        <p:spPr>
          <a:xfrm>
            <a:off x="839788" y="2213811"/>
            <a:ext cx="3932237" cy="3811588"/>
          </a:xfrm>
        </p:spPr>
        <p:txBody>
          <a:bodyPr/>
          <a:lstStyle/>
          <a:p>
            <a:r>
              <a:rPr lang="en-GB" b="1" dirty="0" smtClean="0"/>
              <a:t>Total Customers</a:t>
            </a:r>
            <a:r>
              <a:rPr lang="en-GB" dirty="0" smtClean="0"/>
              <a:t>: 500</a:t>
            </a:r>
          </a:p>
          <a:p>
            <a:r>
              <a:rPr lang="en-GB" b="1" dirty="0" smtClean="0"/>
              <a:t>Total Annual Premiums</a:t>
            </a:r>
            <a:r>
              <a:rPr lang="en-GB" dirty="0" smtClean="0"/>
              <a:t>: $10,466,011</a:t>
            </a:r>
          </a:p>
          <a:p>
            <a:r>
              <a:rPr lang="en-GB" b="1" dirty="0" smtClean="0"/>
              <a:t>Total Claims</a:t>
            </a:r>
            <a:r>
              <a:rPr lang="en-GB" dirty="0" smtClean="0"/>
              <a:t>: 488</a:t>
            </a:r>
          </a:p>
          <a:p>
            <a:r>
              <a:rPr lang="en-GB" b="1" dirty="0" smtClean="0"/>
              <a:t>Overall Loss Ratio</a:t>
            </a:r>
            <a:r>
              <a:rPr lang="en-GB" dirty="0" smtClean="0"/>
              <a:t>: 0.0047</a:t>
            </a:r>
          </a:p>
          <a:p>
            <a:endParaRPr lang="en-GB" dirty="0" smtClean="0"/>
          </a:p>
          <a:p>
            <a:r>
              <a:rPr lang="en-GB" dirty="0" smtClean="0"/>
              <a:t>The Portfolio demonstrates stable premium inflow with relatively low claims frequency compared to total premium volume.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252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/>
              <a:t>Total Premiums By Risk Level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6709"/>
            <a:ext cx="10515600" cy="5285038"/>
          </a:xfrm>
        </p:spPr>
        <p:txBody>
          <a:bodyPr/>
          <a:lstStyle/>
          <a:p>
            <a:r>
              <a:rPr lang="en-GB" dirty="0" smtClean="0">
                <a:latin typeface="+mj-lt"/>
              </a:rPr>
              <a:t>Assesses Revenue Concentration Across Risk Levels</a:t>
            </a:r>
          </a:p>
          <a:p>
            <a:r>
              <a:rPr lang="en-GB" dirty="0" smtClean="0">
                <a:latin typeface="+mj-lt"/>
              </a:rPr>
              <a:t>This shows that our revenue is dominated by the medium risk level followed closely by the low risk</a:t>
            </a:r>
          </a:p>
          <a:p>
            <a:r>
              <a:rPr lang="en-GB" dirty="0" smtClean="0">
                <a:latin typeface="+mj-lt"/>
              </a:rPr>
              <a:t>SQL Query Used</a:t>
            </a:r>
            <a:r>
              <a:rPr lang="en-GB" dirty="0" smtClean="0"/>
              <a:t>: </a:t>
            </a:r>
          </a:p>
          <a:p>
            <a:endParaRPr lang="en-US" dirty="0"/>
          </a:p>
        </p:txBody>
      </p:sp>
      <p:pic>
        <p:nvPicPr>
          <p:cNvPr id="4" name="Picture 3" descr="MySQL Workbench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242"/>
          <a:stretch/>
        </p:blipFill>
        <p:spPr>
          <a:xfrm>
            <a:off x="1031147" y="3320715"/>
            <a:ext cx="9688990" cy="3441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6423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71169"/>
          </a:xfrm>
        </p:spPr>
        <p:txBody>
          <a:bodyPr>
            <a:normAutofit fontScale="90000"/>
          </a:bodyPr>
          <a:lstStyle/>
          <a:p>
            <a:r>
              <a:rPr lang="en-GB" dirty="0" smtClean="0"/>
              <a:t/>
            </a:r>
            <a:br>
              <a:rPr lang="en-GB" dirty="0" smtClean="0"/>
            </a:br>
            <a:r>
              <a:rPr lang="en-GB" b="1" u="sng" dirty="0" smtClean="0"/>
              <a:t>Total Claims</a:t>
            </a:r>
            <a:r>
              <a:rPr lang="en-GB" dirty="0" smtClean="0"/>
              <a:t/>
            </a:r>
            <a:br>
              <a:rPr lang="en-GB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Evaluate Which Risk Level Contributes To The </a:t>
            </a:r>
            <a:r>
              <a:rPr lang="en-GB" dirty="0"/>
              <a:t>M</a:t>
            </a:r>
            <a:r>
              <a:rPr lang="en-GB" dirty="0" smtClean="0"/>
              <a:t>ost </a:t>
            </a:r>
            <a:r>
              <a:rPr lang="en-GB" dirty="0"/>
              <a:t>C</a:t>
            </a:r>
            <a:r>
              <a:rPr lang="en-GB" dirty="0" smtClean="0"/>
              <a:t>laims </a:t>
            </a:r>
          </a:p>
          <a:p>
            <a:r>
              <a:rPr lang="en-GB" dirty="0" smtClean="0"/>
              <a:t>SQL Code Used:</a:t>
            </a:r>
            <a:endParaRPr lang="en-US" dirty="0"/>
          </a:p>
        </p:txBody>
      </p:sp>
      <p:pic>
        <p:nvPicPr>
          <p:cNvPr id="4" name="Picture 3" descr="MySQL Workbench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237" t="-31700" r="-8363" b="1441"/>
          <a:stretch/>
        </p:blipFill>
        <p:spPr>
          <a:xfrm>
            <a:off x="111982" y="1636295"/>
            <a:ext cx="11968035" cy="538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2871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u="sng" dirty="0" smtClean="0"/>
              <a:t>Risk Level Loss Ratio</a:t>
            </a:r>
            <a:endParaRPr lang="en-US" b="1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>
                <a:latin typeface="+mj-lt"/>
              </a:rPr>
              <a:t>Determine Loss Ratios For Each Risk Level</a:t>
            </a:r>
          </a:p>
          <a:p>
            <a:r>
              <a:rPr lang="en-GB" dirty="0" smtClean="0">
                <a:latin typeface="+mj-lt"/>
              </a:rPr>
              <a:t>SQL Code Ran</a:t>
            </a:r>
            <a:r>
              <a:rPr lang="en-GB" dirty="0" smtClean="0"/>
              <a:t>:</a:t>
            </a:r>
          </a:p>
          <a:p>
            <a:endParaRPr lang="en-US" dirty="0"/>
          </a:p>
        </p:txBody>
      </p:sp>
      <p:pic>
        <p:nvPicPr>
          <p:cNvPr id="6" name="Picture 5" descr="MySQL Workbench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9" t="17017" r="502" b="1646"/>
          <a:stretch/>
        </p:blipFill>
        <p:spPr>
          <a:xfrm>
            <a:off x="156411" y="2863515"/>
            <a:ext cx="11923294" cy="3994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824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529389"/>
          </a:xfrm>
        </p:spPr>
        <p:txBody>
          <a:bodyPr>
            <a:normAutofit/>
          </a:bodyPr>
          <a:lstStyle/>
          <a:p>
            <a:r>
              <a:rPr lang="en-GB" b="1" u="sng" dirty="0" smtClean="0"/>
              <a:t>Dashboard Analytics</a:t>
            </a:r>
            <a:endParaRPr lang="en-US" b="1" u="sng" dirty="0"/>
          </a:p>
        </p:txBody>
      </p:sp>
      <p:pic>
        <p:nvPicPr>
          <p:cNvPr id="4" name="Content Placeholder 3" descr="premium_risk_Project - Excel (Product Activation Failed)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8" t="23718" r="2030" b="1154"/>
          <a:stretch/>
        </p:blipFill>
        <p:spPr>
          <a:xfrm>
            <a:off x="4772026" y="457200"/>
            <a:ext cx="7419974" cy="5329989"/>
          </a:xfrm>
        </p:spPr>
      </p:pic>
      <p:sp>
        <p:nvSpPr>
          <p:cNvPr id="6" name="Text Placeholder 5"/>
          <p:cNvSpPr>
            <a:spLocks noGrp="1"/>
          </p:cNvSpPr>
          <p:nvPr>
            <p:ph type="body" sz="half" idx="2"/>
          </p:nvPr>
        </p:nvSpPr>
        <p:spPr>
          <a:xfrm>
            <a:off x="839788" y="1431758"/>
            <a:ext cx="3932237" cy="443723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Medium Risk segment represent 43.4% of customers and 47% of the total claims in the past 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smtClean="0"/>
              <a:t>Middle aged customers cover most of the  claims 47% with 45% of them belonging to the low risk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 smtClean="0"/>
          </a:p>
        </p:txBody>
      </p:sp>
    </p:spTree>
    <p:extLst>
      <p:ext uri="{BB962C8B-B14F-4D97-AF65-F5344CB8AC3E}">
        <p14:creationId xmlns:p14="http://schemas.microsoft.com/office/powerpoint/2010/main" val="1690994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994611" y="1290805"/>
            <a:ext cx="9144000" cy="1861469"/>
          </a:xfrm>
        </p:spPr>
        <p:txBody>
          <a:bodyPr/>
          <a:lstStyle/>
          <a:p>
            <a:r>
              <a:rPr lang="en-GB" u="sng" dirty="0" smtClean="0">
                <a:latin typeface="+mn-lt"/>
              </a:rPr>
              <a:t>Business Recommendation</a:t>
            </a:r>
            <a:r>
              <a:rPr lang="en-GB" dirty="0" smtClean="0"/>
              <a:t/>
            </a:r>
            <a:br>
              <a:rPr lang="en-GB" dirty="0" smtClean="0"/>
            </a:br>
            <a:endParaRPr lang="en-US" dirty="0"/>
          </a:p>
        </p:txBody>
      </p:sp>
      <p:sp>
        <p:nvSpPr>
          <p:cNvPr id="7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524000" y="2860260"/>
            <a:ext cx="8990666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 Pricing Strategy for High-Risk Segment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premium multipliers or introduce stricter underwriting criteria.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 Risk-Based Monitoring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automated flags for high accident history customers.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Introduce Risk Incentives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 discounts for claim-free years to reduce exposure and encourage safer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 Segment-Level Loss Ratios Quarterly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detection prevents long-term underwriting losses.</a:t>
            </a:r>
          </a:p>
        </p:txBody>
      </p:sp>
    </p:spTree>
    <p:extLst>
      <p:ext uri="{BB962C8B-B14F-4D97-AF65-F5344CB8AC3E}">
        <p14:creationId xmlns:p14="http://schemas.microsoft.com/office/powerpoint/2010/main" val="319069587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916</TotalTime>
  <Words>261</Words>
  <Application>Microsoft Office PowerPoint</Application>
  <PresentationFormat>Widescreen</PresentationFormat>
  <Paragraphs>62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</vt:lpstr>
      <vt:lpstr>Insurance Premium Risk &amp; Loss</vt:lpstr>
      <vt:lpstr>Business Problem</vt:lpstr>
      <vt:lpstr>Portfolio Overview</vt:lpstr>
      <vt:lpstr>Total Premiums By Risk Level</vt:lpstr>
      <vt:lpstr> Total Claims </vt:lpstr>
      <vt:lpstr>Risk Level Loss Ratio</vt:lpstr>
      <vt:lpstr>Dashboard Analytics</vt:lpstr>
      <vt:lpstr>Business Recommendation 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kaone</dc:creator>
  <cp:lastModifiedBy>kaone</cp:lastModifiedBy>
  <cp:revision>14</cp:revision>
  <dcterms:created xsi:type="dcterms:W3CDTF">2026-02-16T23:14:12Z</dcterms:created>
  <dcterms:modified xsi:type="dcterms:W3CDTF">2026-02-17T14:31:12Z</dcterms:modified>
</cp:coreProperties>
</file>